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示例进度</c:v>
                </c:pt>
              </c:strCache>
            </c:strRef>
          </c:tx>
          <c:spPr>
            <a:solidFill>
              <a:srgbClr val="007F73"/>
            </a:solidFill>
            <a:ln>
              <a:solidFill>
                <a:srgbClr val="007F73"/>
              </a:solidFill>
            </a:ln>
          </c:spPr>
          <c:cat>
            <c:strRef>
              <c:f>Sheet1!$A$2:$A$4</c:f>
              <c:strCache>
                <c:ptCount val="3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60</c:v>
                </c:pt>
                <c:pt idx="2">
                  <c:v>85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功能示例。图片取自本仓库历史展示，仅作为独立可替换图片素材，未声称对该图内部元素完成重建。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全部数值均为演示数据，不对应实际业务或基准结果。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 | shape"/>
          <p:cNvSpPr/>
          <p:nvPr/>
        </p:nvSpPr>
        <p:spPr>
          <a:xfrm>
            <a:off x="762000" y="701040"/>
            <a:ext cx="457200" cy="60960"/>
          </a:xfrm>
          <a:prstGeom prst="rect">
            <a:avLst/>
          </a:prstGeom>
          <a:solidFill>
            <a:srgbClr val="00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 | text"/>
          <p:cNvSpPr txBox="1"/>
          <p:nvPr/>
        </p:nvSpPr>
        <p:spPr>
          <a:xfrm>
            <a:off x="762000" y="914400"/>
            <a:ext cx="6096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7F73"/>
                </a:solidFill>
                <a:latin typeface="Microsoft YaHei"/>
                <a:ea typeface="Microsoft YaHei"/>
              </a:defRPr>
            </a:pPr>
            <a:r>
              <a:t>IMAGE PPT 2.0</a:t>
            </a:r>
          </a:p>
        </p:txBody>
      </p:sp>
      <p:sp>
        <p:nvSpPr>
          <p:cNvPr id="4" name="title | text"/>
          <p:cNvSpPr txBox="1"/>
          <p:nvPr/>
        </p:nvSpPr>
        <p:spPr>
          <a:xfrm>
            <a:off x="762000" y="1600200"/>
            <a:ext cx="6476999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172B4D"/>
                </a:solidFill>
                <a:latin typeface="Microsoft YaHei"/>
                <a:ea typeface="Microsoft YaHei"/>
              </a:defRPr>
            </a:pPr>
            <a:r>
              <a:t>图像创造视觉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172B4D"/>
                </a:solidFill>
                <a:latin typeface="Microsoft YaHei"/>
                <a:ea typeface="Microsoft YaHei"/>
              </a:defRPr>
            </a:pPr>
            <a:r>
              <a:t>信息保持可编辑</a:t>
            </a:r>
          </a:p>
        </p:txBody>
      </p:sp>
      <p:sp>
        <p:nvSpPr>
          <p:cNvPr id="5" name="body | text"/>
          <p:cNvSpPr txBox="1"/>
          <p:nvPr/>
        </p:nvSpPr>
        <p:spPr>
          <a:xfrm>
            <a:off x="762000" y="3581399"/>
            <a:ext cx="6248399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文字、形状、表格与图表保留原生结构。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照片和插画作为独立素材，随时移动或替换。</a:t>
            </a:r>
          </a:p>
        </p:txBody>
      </p:sp>
      <p:pic>
        <p:nvPicPr>
          <p:cNvPr id="6" name="artwork | 历史封面素材 · 可替换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1890712"/>
            <a:ext cx="4114800" cy="2314575"/>
          </a:xfrm>
          <a:prstGeom prst="rect">
            <a:avLst/>
          </a:prstGeom>
        </p:spPr>
      </p:pic>
      <p:sp>
        <p:nvSpPr>
          <p:cNvPr id="7" name="caption | text"/>
          <p:cNvSpPr txBox="1"/>
          <p:nvPr/>
        </p:nvSpPr>
        <p:spPr>
          <a:xfrm>
            <a:off x="7315199" y="4533899"/>
            <a:ext cx="4114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独立图片素材示例</a:t>
            </a:r>
          </a:p>
        </p:txBody>
      </p:sp>
      <p:sp>
        <p:nvSpPr>
          <p:cNvPr id="8" name="footer | text"/>
          <p:cNvSpPr txBox="1"/>
          <p:nvPr/>
        </p:nvSpPr>
        <p:spPr>
          <a:xfrm>
            <a:off x="762000" y="6057899"/>
            <a:ext cx="990599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01 / 03   ·   本示例用于验证编辑能力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762000" y="495300"/>
            <a:ext cx="1066799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72B4D"/>
                </a:solidFill>
                <a:latin typeface="Microsoft YaHei"/>
                <a:ea typeface="Microsoft YaHei"/>
              </a:defRPr>
            </a:pPr>
            <a:r>
              <a:t>数据可以直接修改</a:t>
            </a:r>
          </a:p>
        </p:txBody>
      </p:sp>
      <p:sp>
        <p:nvSpPr>
          <p:cNvPr id="3" name="subtitle | text"/>
          <p:cNvSpPr txBox="1"/>
          <p:nvPr/>
        </p:nvSpPr>
        <p:spPr>
          <a:xfrm>
            <a:off x="762000" y="1280160"/>
            <a:ext cx="10667999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原生图表附带数据工作簿，表格保留单元格。数值仅用于演示。</a:t>
            </a:r>
          </a:p>
        </p:txBody>
      </p:sp>
      <p:graphicFrame>
        <p:nvGraphicFramePr>
          <p:cNvPr id="4" name="performance | 示例进度"/>
          <p:cNvGraphicFramePr>
            <a:graphicFrameLocks noGrp="1"/>
          </p:cNvGraphicFramePr>
          <p:nvPr/>
        </p:nvGraphicFramePr>
        <p:xfrm>
          <a:off x="762000" y="2133600"/>
          <a:ext cx="6096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source-data | 示例数据表"/>
          <p:cNvGraphicFramePr>
            <a:graphicFrameLocks noGrp="1"/>
          </p:cNvGraphicFramePr>
          <p:nvPr/>
        </p:nvGraphicFramePr>
        <p:xfrm>
          <a:off x="7543799" y="2438400"/>
          <a:ext cx="388620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6950"/>
                <a:gridCol w="1619250"/>
              </a:tblGrid>
              <a:tr h="628650"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7F73"/>
                    </a:solidFill>
                  </a:tcPr>
                </a:tc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示例进度</a:t>
                      </a:r>
                    </a:p>
                  </a:txBody>
                  <a:tcPr>
                    <a:solidFill>
                      <a:srgbClr val="007F73"/>
                    </a:solidFill>
                  </a:tcPr>
                </a:tc>
              </a:tr>
              <a:tr h="628650"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第一期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第二期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第三期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01600" rIns="101600" tIns="101600" bIns="1016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er | text"/>
          <p:cNvSpPr txBox="1"/>
          <p:nvPr/>
        </p:nvSpPr>
        <p:spPr>
          <a:xfrm>
            <a:off x="762000" y="6057899"/>
            <a:ext cx="990599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02 / 03   ·   演示数据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762000" y="495300"/>
            <a:ext cx="1066799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72B4D"/>
                </a:solidFill>
                <a:latin typeface="Microsoft YaHei"/>
                <a:ea typeface="Microsoft YaHei"/>
              </a:defRPr>
            </a:pPr>
            <a:r>
              <a:t>结构拆开，修改更直接</a:t>
            </a:r>
          </a:p>
        </p:txBody>
      </p:sp>
      <p:sp>
        <p:nvSpPr>
          <p:cNvPr id="3" name="subtitle | text"/>
          <p:cNvSpPr txBox="1"/>
          <p:nvPr/>
        </p:nvSpPr>
        <p:spPr>
          <a:xfrm>
            <a:off x="762000" y="1280160"/>
            <a:ext cx="10667999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每个节点、标签和箭头都有独立 ID。组合后仍可取消组合编辑。</a:t>
            </a:r>
          </a:p>
        </p:txBody>
      </p:sp>
      <p:grpSp>
        <p:nvGrpSpPr>
          <p:cNvPr id="4" name="workflow | 工作流 · 可取消组合"/>
          <p:cNvGrpSpPr/>
          <p:nvPr/>
        </p:nvGrpSpPr>
        <p:grpSpPr>
          <a:xfrm>
            <a:off x="762000" y="2590800"/>
            <a:ext cx="10667999" cy="1219200"/>
            <a:chOff x="762000" y="2590800"/>
            <a:chExt cx="10667999" cy="1219200"/>
          </a:xfrm>
        </p:grpSpPr>
        <p:sp>
          <p:nvSpPr>
            <p:cNvPr id="5" name="node-a | shape"/>
            <p:cNvSpPr/>
            <p:nvPr/>
          </p:nvSpPr>
          <p:spPr>
            <a:xfrm>
              <a:off x="762000" y="2590800"/>
              <a:ext cx="2743200" cy="1219200"/>
            </a:xfrm>
            <a:prstGeom prst="roundRect">
              <a:avLst/>
            </a:prstGeom>
            <a:solidFill>
              <a:srgbClr val="DCEE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abel-a | text"/>
            <p:cNvSpPr txBox="1"/>
            <p:nvPr/>
          </p:nvSpPr>
          <p:spPr>
            <a:xfrm>
              <a:off x="990600" y="2948940"/>
              <a:ext cx="2286000" cy="533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 sz="2700" b="1" i="0">
                  <a:solidFill>
                    <a:srgbClr val="172B4D"/>
                  </a:solidFill>
                  <a:latin typeface="Microsoft YaHei"/>
                  <a:ea typeface="Microsoft YaHei"/>
                </a:defRPr>
              </a:pPr>
              <a:r>
                <a:t>识别元素</a:t>
              </a:r>
            </a:p>
          </p:txBody>
        </p:sp>
        <p:cxnSp>
          <p:nvCxnSpPr>
            <p:cNvPr id="7" name="link-ab | line"/>
            <p:cNvCxnSpPr/>
            <p:nvPr/>
          </p:nvCxnSpPr>
          <p:spPr>
            <a:xfrm>
              <a:off x="3695700" y="3200400"/>
              <a:ext cx="800100" cy="0"/>
            </a:xfrm>
            <a:prstGeom prst="line">
              <a:avLst/>
            </a:prstGeom>
            <a:ln w="38100">
              <a:solidFill>
                <a:srgbClr val="007F73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node-b | shape"/>
            <p:cNvSpPr/>
            <p:nvPr/>
          </p:nvSpPr>
          <p:spPr>
            <a:xfrm>
              <a:off x="4724400" y="2590800"/>
              <a:ext cx="2743200" cy="1219200"/>
            </a:xfrm>
            <a:prstGeom prst="roundRect">
              <a:avLst/>
            </a:prstGeom>
            <a:solidFill>
              <a:srgbClr val="007F7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abel-b | text"/>
            <p:cNvSpPr txBox="1"/>
            <p:nvPr/>
          </p:nvSpPr>
          <p:spPr>
            <a:xfrm>
              <a:off x="4953000" y="2948940"/>
              <a:ext cx="2286000" cy="533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 sz="2700" b="1" i="0">
                  <a:solidFill>
                    <a:srgbClr val="FFFFFF"/>
                  </a:solidFill>
                  <a:latin typeface="Microsoft YaHei"/>
                  <a:ea typeface="Microsoft YaHei"/>
                </a:defRPr>
              </a:pPr>
              <a:r>
                <a:t>保存场景</a:t>
              </a:r>
            </a:p>
          </p:txBody>
        </p:sp>
        <p:cxnSp>
          <p:nvCxnSpPr>
            <p:cNvPr id="10" name="link-bc | line"/>
            <p:cNvCxnSpPr/>
            <p:nvPr/>
          </p:nvCxnSpPr>
          <p:spPr>
            <a:xfrm>
              <a:off x="7658099" y="3200400"/>
              <a:ext cx="800100" cy="0"/>
            </a:xfrm>
            <a:prstGeom prst="line">
              <a:avLst/>
            </a:prstGeom>
            <a:ln w="38100">
              <a:solidFill>
                <a:srgbClr val="007F73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node-c | shape"/>
            <p:cNvSpPr/>
            <p:nvPr/>
          </p:nvSpPr>
          <p:spPr>
            <a:xfrm>
              <a:off x="8686799" y="2590800"/>
              <a:ext cx="2743200" cy="1219200"/>
            </a:xfrm>
            <a:prstGeom prst="roundRect">
              <a:avLst/>
            </a:prstGeom>
            <a:solidFill>
              <a:srgbClr val="DCEE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abel-c | text"/>
            <p:cNvSpPr txBox="1"/>
            <p:nvPr/>
          </p:nvSpPr>
          <p:spPr>
            <a:xfrm>
              <a:off x="8915399" y="2948940"/>
              <a:ext cx="2286000" cy="533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 sz="2700" b="1" i="0">
                  <a:solidFill>
                    <a:srgbClr val="172B4D"/>
                  </a:solidFill>
                  <a:latin typeface="Microsoft YaHei"/>
                  <a:ea typeface="Microsoft YaHei"/>
                </a:defRPr>
              </a:pPr>
              <a:r>
                <a:t>原生导出</a:t>
              </a:r>
            </a:p>
          </p:txBody>
        </p:sp>
      </p:grpSp>
      <p:sp>
        <p:nvSpPr>
          <p:cNvPr id="13" name="details | text"/>
          <p:cNvSpPr txBox="1"/>
          <p:nvPr/>
        </p:nvSpPr>
        <p:spPr>
          <a:xfrm>
            <a:off x="762000" y="4686299"/>
            <a:ext cx="1066799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172B4D"/>
                </a:solidFill>
                <a:latin typeface="Microsoft YaHei"/>
                <a:ea typeface="Microsoft YaHei"/>
              </a:defRPr>
            </a:pPr>
            <a:r>
              <a:t>修改文字和数据：更新 scene.json 后重新导出。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172B4D"/>
                </a:solidFill>
                <a:latin typeface="Microsoft YaHei"/>
                <a:ea typeface="Microsoft YaHei"/>
              </a:defRPr>
            </a:pPr>
            <a:r>
              <a:t>修改图片：只替换对应素材，保留其他元素与布局。</a:t>
            </a:r>
          </a:p>
        </p:txBody>
      </p:sp>
      <p:sp>
        <p:nvSpPr>
          <p:cNvPr id="14" name="footer | text"/>
          <p:cNvSpPr txBox="1"/>
          <p:nvPr/>
        </p:nvSpPr>
        <p:spPr>
          <a:xfrm>
            <a:off x="762000" y="6057899"/>
            <a:ext cx="1066799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26173"/>
                </a:solidFill>
                <a:latin typeface="Microsoft YaHei"/>
                <a:ea typeface="Microsoft YaHei"/>
              </a:defRPr>
            </a:pPr>
            <a:r>
              <a:t>03 / 03   ·   无整页底图，所有流程元素均可编辑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PPT 2.0 · 可编辑元素示例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